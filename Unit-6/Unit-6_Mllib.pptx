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6" r:id="rId6"/>
    <p:sldId id="270" r:id="rId7"/>
    <p:sldId id="267" r:id="rId8"/>
    <p:sldId id="268" r:id="rId9"/>
    <p:sldId id="269" r:id="rId10"/>
    <p:sldId id="276" r:id="rId11"/>
    <p:sldId id="277" r:id="rId12"/>
    <p:sldId id="271" r:id="rId13"/>
    <p:sldId id="272" r:id="rId14"/>
    <p:sldId id="273" r:id="rId15"/>
    <p:sldId id="274"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AE71E3-17FF-4AC9-A499-2FB53A811CFA}" v="9" dt="2025-10-28T10:38:16.1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6" autoAdjust="0"/>
    <p:restoredTop sz="94660"/>
  </p:normalViewPr>
  <p:slideViewPr>
    <p:cSldViewPr snapToGrid="0">
      <p:cViewPr varScale="1">
        <p:scale>
          <a:sx n="81" d="100"/>
          <a:sy n="81" d="100"/>
        </p:scale>
        <p:origin x="52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2231-410D-A638-9512-F40A92A82A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F5AE3D-1247-E85B-1490-2D2CC01685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7040C9-0087-3619-FB72-1A400EE83A3D}"/>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5" name="Footer Placeholder 4">
            <a:extLst>
              <a:ext uri="{FF2B5EF4-FFF2-40B4-BE49-F238E27FC236}">
                <a16:creationId xmlns:a16="http://schemas.microsoft.com/office/drawing/2014/main" id="{E2DB8D6E-EC21-DAE8-F231-78CEC65051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D5218D-850C-1C36-B035-04BA9946B030}"/>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3192463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CA064-3951-00CF-D743-14E7A9B42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45754B-4F0A-DA9F-19BF-42E465F205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C3628E-9F0E-1E88-2945-3E11D92312CD}"/>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5" name="Footer Placeholder 4">
            <a:extLst>
              <a:ext uri="{FF2B5EF4-FFF2-40B4-BE49-F238E27FC236}">
                <a16:creationId xmlns:a16="http://schemas.microsoft.com/office/drawing/2014/main" id="{CBF18FB5-6F52-01F2-159D-7BB903607E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04B598-448A-DBB0-E38F-E278BC0DDAD3}"/>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1068514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25C3-8A83-84D0-FDFE-D82BAE537E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CAA2CB-6127-5E89-CC48-96CED51506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075B40-027E-FD3A-B9C2-126D36328864}"/>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5" name="Footer Placeholder 4">
            <a:extLst>
              <a:ext uri="{FF2B5EF4-FFF2-40B4-BE49-F238E27FC236}">
                <a16:creationId xmlns:a16="http://schemas.microsoft.com/office/drawing/2014/main" id="{BB68D20A-4372-3F62-8200-1E4A05DD9A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BC631B-C144-015A-C89F-344382AA5DF9}"/>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1148065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2FC7F-157A-2778-0FC2-E582F7D816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22F4F9-3AA0-8CA7-0C1D-93949B7734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D109019-3E0B-A169-42CC-BC13ABEFAA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7530BC-2BE8-E52C-7C69-8B220F0AB5EE}"/>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6" name="Footer Placeholder 5">
            <a:extLst>
              <a:ext uri="{FF2B5EF4-FFF2-40B4-BE49-F238E27FC236}">
                <a16:creationId xmlns:a16="http://schemas.microsoft.com/office/drawing/2014/main" id="{9373F4DD-1A85-B3ED-873B-345592DAE8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8937E1-6231-9EA4-1007-AB625F9B58E1}"/>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4234650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72E0-98EB-94DA-4F4F-375E53ED93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DEC945-533C-BD1A-4B54-27A1C4B3E0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811A6B-BC44-FD61-2E12-EFC8E1CAFC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9DBC0C-2B9A-F266-43CA-27B69BF730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A22C10-6D34-65FA-3F7E-743183443C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F820E4-FA10-0CBB-BDB5-309570919596}"/>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8" name="Footer Placeholder 7">
            <a:extLst>
              <a:ext uri="{FF2B5EF4-FFF2-40B4-BE49-F238E27FC236}">
                <a16:creationId xmlns:a16="http://schemas.microsoft.com/office/drawing/2014/main" id="{9E4876DF-1398-4FD9-FB18-42CD28D5CD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7946F2-D982-B99E-96DF-94BEEBB01D26}"/>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1250254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3EF96-C98D-0FF1-B286-4DAB3C113B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15EA58-91A3-18D3-3197-85CD0E4EBA63}"/>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4" name="Footer Placeholder 3">
            <a:extLst>
              <a:ext uri="{FF2B5EF4-FFF2-40B4-BE49-F238E27FC236}">
                <a16:creationId xmlns:a16="http://schemas.microsoft.com/office/drawing/2014/main" id="{28AAD01E-F295-CF4B-73AC-1028E52874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76FFA0-8FD5-B7F8-A47E-A36F324C668B}"/>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1137928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11C526-AFB0-CBB7-8CA4-81330B6C9CE6}"/>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3" name="Footer Placeholder 2">
            <a:extLst>
              <a:ext uri="{FF2B5EF4-FFF2-40B4-BE49-F238E27FC236}">
                <a16:creationId xmlns:a16="http://schemas.microsoft.com/office/drawing/2014/main" id="{27A70B99-6BDB-49EE-46BC-8D87671D55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14C6ED-6E69-1525-3297-78E280E8F17A}"/>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4236624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5762A-8D59-4F1D-62C7-A0B62CF3A3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3CC6AE-00FA-5AB3-D0F2-2C47FAE4EE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E46695-9789-801B-B0BC-9542425E2D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D43B3F-D874-A27C-D928-0B78A369B082}"/>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6" name="Footer Placeholder 5">
            <a:extLst>
              <a:ext uri="{FF2B5EF4-FFF2-40B4-BE49-F238E27FC236}">
                <a16:creationId xmlns:a16="http://schemas.microsoft.com/office/drawing/2014/main" id="{67C78622-F1EE-A50F-3B4E-4E9F6DF46E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378648-CD70-CA7A-E613-3E9DE7EB4326}"/>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2947104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ADEF-828D-F807-91BC-E736616CC1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8BC827-68FD-E0C6-DBD6-6E6D5FEDFD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CE351B-8CF4-9881-D618-0C77ABB0F6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F38D3F-1697-E0F3-820F-B154F10F48F5}"/>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6" name="Footer Placeholder 5">
            <a:extLst>
              <a:ext uri="{FF2B5EF4-FFF2-40B4-BE49-F238E27FC236}">
                <a16:creationId xmlns:a16="http://schemas.microsoft.com/office/drawing/2014/main" id="{DA596BDC-31A5-D199-DAE9-B1C86EC6AC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CE362B-B31B-9D31-08EF-435CF86607E0}"/>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73427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FBB09-3A8C-5984-1EA9-A47B97B09A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597D21-9F3E-5F61-08D8-8978EE6977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65F3F4-167B-16D5-3637-6B4BA1C3113D}"/>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5" name="Footer Placeholder 4">
            <a:extLst>
              <a:ext uri="{FF2B5EF4-FFF2-40B4-BE49-F238E27FC236}">
                <a16:creationId xmlns:a16="http://schemas.microsoft.com/office/drawing/2014/main" id="{7A62E70B-482F-0917-CC03-A0A82A624B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68624A-F50E-F5BA-A80B-09BBAA3F5C10}"/>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337074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E03D2B-7092-FB9F-FF20-98D0A13D6A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FAB24B-F9F3-5B0D-7647-3561813A0C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BD6BAD-EA29-DD50-F8B1-28F6665C742C}"/>
              </a:ext>
            </a:extLst>
          </p:cNvPr>
          <p:cNvSpPr>
            <a:spLocks noGrp="1"/>
          </p:cNvSpPr>
          <p:nvPr>
            <p:ph type="dt" sz="half" idx="10"/>
          </p:nvPr>
        </p:nvSpPr>
        <p:spPr/>
        <p:txBody>
          <a:bodyPr/>
          <a:lstStyle/>
          <a:p>
            <a:fld id="{0487B44D-616E-4188-BCE0-F95266347397}" type="datetimeFigureOut">
              <a:rPr lang="en-IN" smtClean="0"/>
              <a:t>25-09-2026</a:t>
            </a:fld>
            <a:endParaRPr lang="en-IN"/>
          </a:p>
        </p:txBody>
      </p:sp>
      <p:sp>
        <p:nvSpPr>
          <p:cNvPr id="5" name="Footer Placeholder 4">
            <a:extLst>
              <a:ext uri="{FF2B5EF4-FFF2-40B4-BE49-F238E27FC236}">
                <a16:creationId xmlns:a16="http://schemas.microsoft.com/office/drawing/2014/main" id="{48A71DDD-1B7A-7D47-2A56-1D0660FE9F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4B5985-6DB0-5C6C-96E5-E20293991EFD}"/>
              </a:ext>
            </a:extLst>
          </p:cNvPr>
          <p:cNvSpPr>
            <a:spLocks noGrp="1"/>
          </p:cNvSpPr>
          <p:nvPr>
            <p:ph type="sldNum" sz="quarter" idx="12"/>
          </p:nvPr>
        </p:nvSpPr>
        <p:spPr/>
        <p:txBody>
          <a:bodyPr/>
          <a:lstStyle/>
          <a:p>
            <a:fld id="{7ECF81D2-695A-499A-ADFF-5C705877B5D1}" type="slidenum">
              <a:rPr lang="en-IN" smtClean="0"/>
              <a:t>‹#›</a:t>
            </a:fld>
            <a:endParaRPr lang="en-IN"/>
          </a:p>
        </p:txBody>
      </p:sp>
    </p:spTree>
    <p:extLst>
      <p:ext uri="{BB962C8B-B14F-4D97-AF65-F5344CB8AC3E}">
        <p14:creationId xmlns:p14="http://schemas.microsoft.com/office/powerpoint/2010/main" val="2436057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6B43A3-94F3-6480-E572-9B7C435238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E01EC3-31B5-CF5B-E880-5B9BCC790D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637D73-0C46-5D72-80E8-AAD7E1182E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87B44D-616E-4188-BCE0-F95266347397}" type="datetimeFigureOut">
              <a:rPr lang="en-IN" smtClean="0"/>
              <a:t>25-09-2026</a:t>
            </a:fld>
            <a:endParaRPr lang="en-IN"/>
          </a:p>
        </p:txBody>
      </p:sp>
      <p:sp>
        <p:nvSpPr>
          <p:cNvPr id="5" name="Footer Placeholder 4">
            <a:extLst>
              <a:ext uri="{FF2B5EF4-FFF2-40B4-BE49-F238E27FC236}">
                <a16:creationId xmlns:a16="http://schemas.microsoft.com/office/drawing/2014/main" id="{633FA0B6-E403-9948-8699-BC6DC67B10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F8A060-45B8-60AE-8A71-647BAF2C2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CF81D2-695A-499A-ADFF-5C705877B5D1}" type="slidenum">
              <a:rPr lang="en-IN" smtClean="0"/>
              <a:t>‹#›</a:t>
            </a:fld>
            <a:endParaRPr lang="en-IN"/>
          </a:p>
        </p:txBody>
      </p:sp>
    </p:spTree>
    <p:extLst>
      <p:ext uri="{BB962C8B-B14F-4D97-AF65-F5344CB8AC3E}">
        <p14:creationId xmlns:p14="http://schemas.microsoft.com/office/powerpoint/2010/main" val="1724636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1BBC3-330F-DCF2-5BB5-7E34C82A42AB}"/>
              </a:ext>
            </a:extLst>
          </p:cNvPr>
          <p:cNvSpPr>
            <a:spLocks noGrp="1"/>
          </p:cNvSpPr>
          <p:nvPr>
            <p:ph type="ctrTitle"/>
          </p:nvPr>
        </p:nvSpPr>
        <p:spPr/>
        <p:txBody>
          <a:bodyPr/>
          <a:lstStyle/>
          <a:p>
            <a:r>
              <a:rPr lang="en-IN" b="1" dirty="0">
                <a:solidFill>
                  <a:srgbClr val="FF0000"/>
                </a:solidFill>
              </a:rPr>
              <a:t>Unit-6</a:t>
            </a:r>
          </a:p>
        </p:txBody>
      </p:sp>
      <p:sp>
        <p:nvSpPr>
          <p:cNvPr id="3" name="Subtitle 2">
            <a:extLst>
              <a:ext uri="{FF2B5EF4-FFF2-40B4-BE49-F238E27FC236}">
                <a16:creationId xmlns:a16="http://schemas.microsoft.com/office/drawing/2014/main" id="{36DFF425-8212-BDB7-7567-54779CA1EE53}"/>
              </a:ext>
            </a:extLst>
          </p:cNvPr>
          <p:cNvSpPr>
            <a:spLocks noGrp="1"/>
          </p:cNvSpPr>
          <p:nvPr>
            <p:ph type="subTitle" idx="1"/>
          </p:nvPr>
        </p:nvSpPr>
        <p:spPr/>
        <p:txBody>
          <a:bodyPr/>
          <a:lstStyle/>
          <a:p>
            <a:r>
              <a:rPr lang="en-US" b="1" dirty="0">
                <a:solidFill>
                  <a:srgbClr val="FF0000"/>
                </a:solidFill>
              </a:rPr>
              <a:t>Spark ML Programming and Graph Analytics</a:t>
            </a:r>
            <a:endParaRPr lang="en-IN" b="1" dirty="0">
              <a:solidFill>
                <a:srgbClr val="FF0000"/>
              </a:solidFill>
            </a:endParaRPr>
          </a:p>
          <a:p>
            <a:endParaRPr lang="en-IN" dirty="0"/>
          </a:p>
        </p:txBody>
      </p:sp>
    </p:spTree>
    <p:extLst>
      <p:ext uri="{BB962C8B-B14F-4D97-AF65-F5344CB8AC3E}">
        <p14:creationId xmlns:p14="http://schemas.microsoft.com/office/powerpoint/2010/main" val="464988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5494F-E9DB-B33F-D33A-0BB18B15C30E}"/>
              </a:ext>
            </a:extLst>
          </p:cNvPr>
          <p:cNvSpPr>
            <a:spLocks noGrp="1"/>
          </p:cNvSpPr>
          <p:nvPr>
            <p:ph type="title"/>
          </p:nvPr>
        </p:nvSpPr>
        <p:spPr>
          <a:xfrm>
            <a:off x="838200" y="0"/>
            <a:ext cx="10515600" cy="810532"/>
          </a:xfrm>
        </p:spPr>
        <p:txBody>
          <a:bodyPr/>
          <a:lstStyle/>
          <a:p>
            <a:r>
              <a:rPr lang="en-IN" b="1" dirty="0" err="1">
                <a:solidFill>
                  <a:srgbClr val="FF0000"/>
                </a:solidFill>
              </a:rPr>
              <a:t>MLlib</a:t>
            </a:r>
            <a:endParaRPr lang="en-IN" b="1" dirty="0">
              <a:solidFill>
                <a:srgbClr val="FF0000"/>
              </a:solidFill>
            </a:endParaRPr>
          </a:p>
        </p:txBody>
      </p:sp>
      <p:sp>
        <p:nvSpPr>
          <p:cNvPr id="3" name="Content Placeholder 2">
            <a:extLst>
              <a:ext uri="{FF2B5EF4-FFF2-40B4-BE49-F238E27FC236}">
                <a16:creationId xmlns:a16="http://schemas.microsoft.com/office/drawing/2014/main" id="{C8F02249-CA72-FD53-8507-C857626CD3C9}"/>
              </a:ext>
            </a:extLst>
          </p:cNvPr>
          <p:cNvSpPr>
            <a:spLocks noGrp="1"/>
          </p:cNvSpPr>
          <p:nvPr>
            <p:ph idx="1"/>
          </p:nvPr>
        </p:nvSpPr>
        <p:spPr>
          <a:xfrm>
            <a:off x="838200" y="1253331"/>
            <a:ext cx="10515600" cy="4351338"/>
          </a:xfrm>
        </p:spPr>
        <p:txBody>
          <a:bodyPr>
            <a:normAutofit/>
          </a:bodyPr>
          <a:lstStyle/>
          <a:p>
            <a:pPr algn="just"/>
            <a:r>
              <a:rPr lang="en-US" b="1" dirty="0" err="1"/>
              <a:t>MLlib</a:t>
            </a:r>
            <a:r>
              <a:rPr lang="en-US" b="1" dirty="0"/>
              <a:t> (Machine Learning Library)</a:t>
            </a:r>
            <a:r>
              <a:rPr lang="en-US" dirty="0"/>
              <a:t> is Apache Spark’s scalable machine learning library. It provides tools for building machine learning pipelines that can handle large-scale data distributed across multiple machines.</a:t>
            </a:r>
          </a:p>
          <a:p>
            <a:pPr algn="just"/>
            <a:r>
              <a:rPr lang="en-US" dirty="0"/>
              <a:t>In </a:t>
            </a:r>
            <a:r>
              <a:rPr lang="en-US" dirty="0" err="1"/>
              <a:t>PySpark</a:t>
            </a:r>
            <a:r>
              <a:rPr lang="en-US" dirty="0"/>
              <a:t> (the Python API for Apache Spark), </a:t>
            </a:r>
            <a:r>
              <a:rPr lang="en-US" dirty="0" err="1"/>
              <a:t>MLlib</a:t>
            </a:r>
            <a:r>
              <a:rPr lang="en-US" dirty="0"/>
              <a:t> helps you perform tasks such as:</a:t>
            </a:r>
          </a:p>
          <a:p>
            <a:pPr marL="514350" indent="-514350" algn="just">
              <a:buFont typeface="+mj-lt"/>
              <a:buAutoNum type="arabicPeriod"/>
            </a:pPr>
            <a:r>
              <a:rPr lang="en-IN" dirty="0" err="1"/>
              <a:t>ClassificationRegression</a:t>
            </a:r>
            <a:endParaRPr lang="en-IN" dirty="0"/>
          </a:p>
          <a:p>
            <a:pPr marL="514350" indent="-514350" algn="just">
              <a:buFont typeface="+mj-lt"/>
              <a:buAutoNum type="arabicPeriod"/>
            </a:pPr>
            <a:r>
              <a:rPr lang="en-IN" dirty="0"/>
              <a:t>Clustering</a:t>
            </a:r>
          </a:p>
          <a:p>
            <a:pPr marL="514350" indent="-514350" algn="just">
              <a:buFont typeface="+mj-lt"/>
              <a:buAutoNum type="arabicPeriod"/>
            </a:pPr>
            <a:r>
              <a:rPr lang="en-IN" dirty="0"/>
              <a:t>Recommendation</a:t>
            </a:r>
          </a:p>
        </p:txBody>
      </p:sp>
    </p:spTree>
    <p:extLst>
      <p:ext uri="{BB962C8B-B14F-4D97-AF65-F5344CB8AC3E}">
        <p14:creationId xmlns:p14="http://schemas.microsoft.com/office/powerpoint/2010/main" val="2624039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5230A-4628-D3F1-7695-0B157C8D7418}"/>
              </a:ext>
            </a:extLst>
          </p:cNvPr>
          <p:cNvSpPr>
            <a:spLocks noGrp="1"/>
          </p:cNvSpPr>
          <p:nvPr>
            <p:ph type="title"/>
          </p:nvPr>
        </p:nvSpPr>
        <p:spPr/>
        <p:txBody>
          <a:bodyPr/>
          <a:lstStyle/>
          <a:p>
            <a:r>
              <a:rPr lang="en-IN" b="1" dirty="0">
                <a:solidFill>
                  <a:srgbClr val="FF0000"/>
                </a:solidFill>
              </a:rPr>
              <a:t>Loading the dataset in </a:t>
            </a:r>
            <a:r>
              <a:rPr lang="en-IN" b="1" dirty="0" err="1">
                <a:solidFill>
                  <a:srgbClr val="FF0000"/>
                </a:solidFill>
              </a:rPr>
              <a:t>Pyspark</a:t>
            </a:r>
            <a:endParaRPr lang="en-IN" b="1" dirty="0">
              <a:solidFill>
                <a:srgbClr val="FF0000"/>
              </a:solidFill>
            </a:endParaRPr>
          </a:p>
        </p:txBody>
      </p:sp>
      <p:sp>
        <p:nvSpPr>
          <p:cNvPr id="3" name="Content Placeholder 2">
            <a:extLst>
              <a:ext uri="{FF2B5EF4-FFF2-40B4-BE49-F238E27FC236}">
                <a16:creationId xmlns:a16="http://schemas.microsoft.com/office/drawing/2014/main" id="{B2EB3611-CFFB-A43E-7412-12B92A06C4CD}"/>
              </a:ext>
            </a:extLst>
          </p:cNvPr>
          <p:cNvSpPr>
            <a:spLocks noGrp="1"/>
          </p:cNvSpPr>
          <p:nvPr>
            <p:ph idx="1"/>
          </p:nvPr>
        </p:nvSpPr>
        <p:spPr/>
        <p:txBody>
          <a:bodyPr/>
          <a:lstStyle/>
          <a:p>
            <a:pPr marL="0" indent="0">
              <a:buNone/>
            </a:pPr>
            <a:r>
              <a:rPr lang="en-IN" dirty="0"/>
              <a:t>from </a:t>
            </a:r>
            <a:r>
              <a:rPr lang="en-IN" dirty="0" err="1"/>
              <a:t>pyspark.sql</a:t>
            </a:r>
            <a:r>
              <a:rPr lang="en-IN" dirty="0"/>
              <a:t> import </a:t>
            </a:r>
            <a:r>
              <a:rPr lang="en-IN" dirty="0" err="1"/>
              <a:t>SparkSession</a:t>
            </a:r>
            <a:endParaRPr lang="en-IN" dirty="0"/>
          </a:p>
          <a:p>
            <a:endParaRPr lang="en-IN" dirty="0"/>
          </a:p>
          <a:p>
            <a:pPr marL="0" indent="0">
              <a:buNone/>
            </a:pPr>
            <a:r>
              <a:rPr lang="en-IN" dirty="0"/>
              <a:t>spark = </a:t>
            </a:r>
            <a:r>
              <a:rPr lang="en-IN" dirty="0" err="1"/>
              <a:t>SparkSession.builder.getOrCreate</a:t>
            </a:r>
            <a:r>
              <a:rPr lang="en-IN" dirty="0"/>
              <a:t>()</a:t>
            </a:r>
          </a:p>
          <a:p>
            <a:endParaRPr lang="en-IN" dirty="0"/>
          </a:p>
          <a:p>
            <a:pPr marL="0" indent="0">
              <a:buNone/>
            </a:pPr>
            <a:r>
              <a:rPr lang="en-IN" dirty="0"/>
              <a:t>data=spark.read.csv("C:/Users/gurvi/OneDrive/Desktop/LPU/25261/INT315/Sampledata.csv", header=True, </a:t>
            </a:r>
            <a:r>
              <a:rPr lang="en-IN" dirty="0" err="1"/>
              <a:t>inferSchema</a:t>
            </a:r>
            <a:r>
              <a:rPr lang="en-IN" dirty="0"/>
              <a:t>=True)</a:t>
            </a:r>
          </a:p>
          <a:p>
            <a:pPr marL="0" indent="0">
              <a:buNone/>
            </a:pPr>
            <a:endParaRPr lang="en-IN" dirty="0"/>
          </a:p>
          <a:p>
            <a:pPr marL="0" indent="0">
              <a:buNone/>
            </a:pPr>
            <a:r>
              <a:rPr lang="en-IN" dirty="0" err="1"/>
              <a:t>data.show</a:t>
            </a:r>
            <a:r>
              <a:rPr lang="en-IN" dirty="0"/>
              <a:t>()</a:t>
            </a:r>
          </a:p>
          <a:p>
            <a:endParaRPr lang="en-IN" dirty="0"/>
          </a:p>
          <a:p>
            <a:endParaRPr lang="en-IN" dirty="0"/>
          </a:p>
        </p:txBody>
      </p:sp>
    </p:spTree>
    <p:extLst>
      <p:ext uri="{BB962C8B-B14F-4D97-AF65-F5344CB8AC3E}">
        <p14:creationId xmlns:p14="http://schemas.microsoft.com/office/powerpoint/2010/main" val="4117297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52F8C-BA68-0A14-98B4-19E892C3875E}"/>
              </a:ext>
            </a:extLst>
          </p:cNvPr>
          <p:cNvSpPr>
            <a:spLocks noGrp="1"/>
          </p:cNvSpPr>
          <p:nvPr>
            <p:ph type="title"/>
          </p:nvPr>
        </p:nvSpPr>
        <p:spPr/>
        <p:txBody>
          <a:bodyPr/>
          <a:lstStyle/>
          <a:p>
            <a:r>
              <a:rPr lang="en-IN" b="1" dirty="0">
                <a:solidFill>
                  <a:srgbClr val="FF0000"/>
                </a:solidFill>
              </a:rPr>
              <a:t>Install the packages</a:t>
            </a:r>
          </a:p>
        </p:txBody>
      </p:sp>
      <p:sp>
        <p:nvSpPr>
          <p:cNvPr id="3" name="Content Placeholder 2">
            <a:extLst>
              <a:ext uri="{FF2B5EF4-FFF2-40B4-BE49-F238E27FC236}">
                <a16:creationId xmlns:a16="http://schemas.microsoft.com/office/drawing/2014/main" id="{D2A23333-7700-1018-B8DB-DBBA24A73D38}"/>
              </a:ext>
            </a:extLst>
          </p:cNvPr>
          <p:cNvSpPr>
            <a:spLocks noGrp="1"/>
          </p:cNvSpPr>
          <p:nvPr>
            <p:ph idx="1"/>
          </p:nvPr>
        </p:nvSpPr>
        <p:spPr>
          <a:xfrm>
            <a:off x="838200" y="1431985"/>
            <a:ext cx="10515600" cy="4744978"/>
          </a:xfrm>
        </p:spPr>
        <p:txBody>
          <a:bodyPr/>
          <a:lstStyle/>
          <a:p>
            <a:pPr marL="0" indent="0">
              <a:buNone/>
            </a:pPr>
            <a:r>
              <a:rPr lang="en-US" sz="3200" dirty="0"/>
              <a:t>pip install </a:t>
            </a:r>
            <a:r>
              <a:rPr lang="en-US" sz="3200" dirty="0" err="1"/>
              <a:t>numpy</a:t>
            </a:r>
            <a:endParaRPr lang="en-US" sz="3200" dirty="0"/>
          </a:p>
          <a:p>
            <a:pPr marL="0" indent="0">
              <a:buNone/>
            </a:pPr>
            <a:r>
              <a:rPr lang="en-US" sz="3200" dirty="0"/>
              <a:t>pip install </a:t>
            </a:r>
            <a:r>
              <a:rPr lang="en-US" sz="3200" dirty="0" err="1"/>
              <a:t>setuptools</a:t>
            </a:r>
            <a:r>
              <a:rPr lang="en-US" sz="3200" dirty="0"/>
              <a:t>==58.0.4	( use this as newer version of pythons doesn't contains </a:t>
            </a:r>
            <a:r>
              <a:rPr lang="en-US" sz="3200" dirty="0" err="1"/>
              <a:t>distutils</a:t>
            </a:r>
            <a:r>
              <a:rPr lang="en-US" sz="3200" dirty="0"/>
              <a: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398764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416E0-E20B-DC60-D20D-2C621F80E091}"/>
              </a:ext>
            </a:extLst>
          </p:cNvPr>
          <p:cNvSpPr>
            <a:spLocks noGrp="1"/>
          </p:cNvSpPr>
          <p:nvPr>
            <p:ph type="title"/>
          </p:nvPr>
        </p:nvSpPr>
        <p:spPr>
          <a:xfrm>
            <a:off x="328914" y="0"/>
            <a:ext cx="4833395" cy="1035412"/>
          </a:xfrm>
        </p:spPr>
        <p:txBody>
          <a:bodyPr/>
          <a:lstStyle/>
          <a:p>
            <a:r>
              <a:rPr lang="en-IN" b="1" dirty="0">
                <a:solidFill>
                  <a:srgbClr val="FF0000"/>
                </a:solidFill>
              </a:rPr>
              <a:t>Linear Regression</a:t>
            </a:r>
          </a:p>
        </p:txBody>
      </p:sp>
      <p:sp>
        <p:nvSpPr>
          <p:cNvPr id="3" name="Content Placeholder 2">
            <a:extLst>
              <a:ext uri="{FF2B5EF4-FFF2-40B4-BE49-F238E27FC236}">
                <a16:creationId xmlns:a16="http://schemas.microsoft.com/office/drawing/2014/main" id="{0C27A8B6-FFEF-91FB-166F-963EFEE1CC35}"/>
              </a:ext>
            </a:extLst>
          </p:cNvPr>
          <p:cNvSpPr>
            <a:spLocks noGrp="1"/>
          </p:cNvSpPr>
          <p:nvPr>
            <p:ph idx="1"/>
          </p:nvPr>
        </p:nvSpPr>
        <p:spPr>
          <a:xfrm>
            <a:off x="328914" y="1253331"/>
            <a:ext cx="10515600" cy="4351338"/>
          </a:xfrm>
        </p:spPr>
        <p:txBody>
          <a:bodyPr/>
          <a:lstStyle/>
          <a:p>
            <a:pPr algn="just"/>
            <a:r>
              <a:rPr lang="en-US" dirty="0"/>
              <a:t>Linear regression is a type of supervised machine-learning algorithm </a:t>
            </a:r>
          </a:p>
          <a:p>
            <a:pPr algn="just"/>
            <a:r>
              <a:rPr lang="en-US" dirty="0"/>
              <a:t>It learns from the labelled datasets and maps the data points with most optimized linear functions which can be used for prediction on new datasets. </a:t>
            </a:r>
          </a:p>
          <a:p>
            <a:pPr algn="just"/>
            <a:r>
              <a:rPr lang="en-US" dirty="0"/>
              <a:t>It assumes that there is a linear relationship between the input and output, meaning the output changes at a constant rate as the input changes. This relationship is represented by a straight line.</a:t>
            </a:r>
            <a:endParaRPr lang="en-IN" dirty="0"/>
          </a:p>
        </p:txBody>
      </p:sp>
    </p:spTree>
    <p:extLst>
      <p:ext uri="{BB962C8B-B14F-4D97-AF65-F5344CB8AC3E}">
        <p14:creationId xmlns:p14="http://schemas.microsoft.com/office/powerpoint/2010/main" val="244487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ABEC-AABF-6096-97EE-FA3BED6C9AED}"/>
              </a:ext>
            </a:extLst>
          </p:cNvPr>
          <p:cNvSpPr>
            <a:spLocks noGrp="1"/>
          </p:cNvSpPr>
          <p:nvPr>
            <p:ph type="title"/>
          </p:nvPr>
        </p:nvSpPr>
        <p:spPr>
          <a:xfrm>
            <a:off x="740779" y="469298"/>
            <a:ext cx="10515600" cy="942814"/>
          </a:xfrm>
        </p:spPr>
        <p:txBody>
          <a:bodyPr>
            <a:noAutofit/>
          </a:bodyPr>
          <a:lstStyle/>
          <a:p>
            <a:r>
              <a:rPr lang="en-IN" b="1" dirty="0">
                <a:solidFill>
                  <a:srgbClr val="FF0000"/>
                </a:solidFill>
              </a:rPr>
              <a:t>EXAMPLE </a:t>
            </a:r>
            <a:br>
              <a:rPr lang="en-IN" b="1" dirty="0">
                <a:solidFill>
                  <a:srgbClr val="FF0000"/>
                </a:solidFill>
              </a:rPr>
            </a:br>
            <a:endParaRPr lang="en-IN" b="1" dirty="0">
              <a:solidFill>
                <a:srgbClr val="FF0000"/>
              </a:solidFill>
            </a:endParaRPr>
          </a:p>
        </p:txBody>
      </p:sp>
      <p:sp>
        <p:nvSpPr>
          <p:cNvPr id="3" name="Content Placeholder 2">
            <a:extLst>
              <a:ext uri="{FF2B5EF4-FFF2-40B4-BE49-F238E27FC236}">
                <a16:creationId xmlns:a16="http://schemas.microsoft.com/office/drawing/2014/main" id="{6A6B1D0E-D05F-FA1A-BFF3-CD13DE1D8613}"/>
              </a:ext>
            </a:extLst>
          </p:cNvPr>
          <p:cNvSpPr>
            <a:spLocks noGrp="1"/>
          </p:cNvSpPr>
          <p:nvPr>
            <p:ph idx="1"/>
          </p:nvPr>
        </p:nvSpPr>
        <p:spPr>
          <a:xfrm>
            <a:off x="653006" y="1412112"/>
            <a:ext cx="10798215" cy="5216264"/>
          </a:xfrm>
        </p:spPr>
        <p:txBody>
          <a:bodyPr/>
          <a:lstStyle/>
          <a:p>
            <a:r>
              <a:rPr lang="en-US" dirty="0"/>
              <a:t>We want to predict a student's exam score based on how many hours they studied. We observe that as students study more hours, their scores go up. In the example of predicting exam scores based on hours studied. Here</a:t>
            </a:r>
          </a:p>
          <a:p>
            <a:r>
              <a:rPr lang="en-US" b="1" dirty="0"/>
              <a:t>Independent variable (input):</a:t>
            </a:r>
            <a:r>
              <a:rPr lang="en-US" dirty="0"/>
              <a:t> Hours studied because it's the factor we control or observe.</a:t>
            </a:r>
          </a:p>
          <a:p>
            <a:r>
              <a:rPr lang="en-US" b="1" dirty="0"/>
              <a:t>Dependent variable (output): </a:t>
            </a:r>
            <a:r>
              <a:rPr lang="en-US" dirty="0"/>
              <a:t>Exam score because it depends on how many hours were studied.</a:t>
            </a:r>
          </a:p>
          <a:p>
            <a:endParaRPr lang="en-IN" dirty="0"/>
          </a:p>
        </p:txBody>
      </p:sp>
    </p:spTree>
    <p:extLst>
      <p:ext uri="{BB962C8B-B14F-4D97-AF65-F5344CB8AC3E}">
        <p14:creationId xmlns:p14="http://schemas.microsoft.com/office/powerpoint/2010/main" val="3179313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FD46B-0EC8-1B1D-3A37-949E72B359B5}"/>
              </a:ext>
            </a:extLst>
          </p:cNvPr>
          <p:cNvSpPr>
            <a:spLocks noGrp="1"/>
          </p:cNvSpPr>
          <p:nvPr>
            <p:ph type="title"/>
          </p:nvPr>
        </p:nvSpPr>
        <p:spPr>
          <a:xfrm>
            <a:off x="520861" y="81023"/>
            <a:ext cx="10515600" cy="1180618"/>
          </a:xfrm>
        </p:spPr>
        <p:txBody>
          <a:bodyPr/>
          <a:lstStyle/>
          <a:p>
            <a:r>
              <a:rPr lang="en-IN" b="1" dirty="0">
                <a:solidFill>
                  <a:srgbClr val="FF0000"/>
                </a:solidFill>
              </a:rPr>
              <a:t>Implementation Data Importing </a:t>
            </a:r>
          </a:p>
        </p:txBody>
      </p:sp>
      <p:sp>
        <p:nvSpPr>
          <p:cNvPr id="5" name="TextBox 4">
            <a:extLst>
              <a:ext uri="{FF2B5EF4-FFF2-40B4-BE49-F238E27FC236}">
                <a16:creationId xmlns:a16="http://schemas.microsoft.com/office/drawing/2014/main" id="{2D94D0D4-55B6-7504-F7FA-7EFB5E0F7CD6}"/>
              </a:ext>
            </a:extLst>
          </p:cNvPr>
          <p:cNvSpPr txBox="1"/>
          <p:nvPr/>
        </p:nvSpPr>
        <p:spPr>
          <a:xfrm>
            <a:off x="520861" y="1848294"/>
            <a:ext cx="11369234" cy="1938992"/>
          </a:xfrm>
          <a:prstGeom prst="rect">
            <a:avLst/>
          </a:prstGeom>
          <a:noFill/>
        </p:spPr>
        <p:txBody>
          <a:bodyPr wrap="square">
            <a:spAutoFit/>
          </a:bodyPr>
          <a:lstStyle/>
          <a:p>
            <a:r>
              <a:rPr lang="en-IN" sz="2000" dirty="0"/>
              <a:t>from </a:t>
            </a:r>
            <a:r>
              <a:rPr lang="en-IN" sz="2000" dirty="0" err="1"/>
              <a:t>pyspark.sql</a:t>
            </a:r>
            <a:r>
              <a:rPr lang="en-IN" sz="2000" dirty="0"/>
              <a:t> import </a:t>
            </a:r>
            <a:r>
              <a:rPr lang="en-IN" sz="2000" dirty="0" err="1"/>
              <a:t>SparkSession</a:t>
            </a:r>
            <a:endParaRPr lang="en-IN" sz="2000" dirty="0"/>
          </a:p>
          <a:p>
            <a:r>
              <a:rPr lang="en-IN" sz="2000" dirty="0"/>
              <a:t>spark = </a:t>
            </a:r>
            <a:r>
              <a:rPr lang="en-IN" sz="2000" dirty="0" err="1"/>
              <a:t>SparkSession.builder.getOrCreate</a:t>
            </a:r>
            <a:r>
              <a:rPr lang="en-IN" sz="2000" dirty="0"/>
              <a:t>()</a:t>
            </a:r>
          </a:p>
          <a:p>
            <a:r>
              <a:rPr lang="en-IN" sz="2000" dirty="0"/>
              <a:t>data = </a:t>
            </a:r>
            <a:r>
              <a:rPr lang="en-IN" sz="2000" dirty="0" err="1"/>
              <a:t>spark.read.csv</a:t>
            </a:r>
            <a:r>
              <a:rPr lang="en-IN" sz="2000" dirty="0"/>
              <a:t>(</a:t>
            </a:r>
            <a:r>
              <a:rPr lang="en-US" sz="2000" dirty="0"/>
              <a:t>"C:/Users/ASUS/Downloads/</a:t>
            </a:r>
            <a:r>
              <a:rPr lang="en-US" sz="2000" dirty="0" err="1"/>
              <a:t>boston_housing.csv</a:t>
            </a:r>
            <a:r>
              <a:rPr lang="en-US" sz="2000" dirty="0"/>
              <a:t>"</a:t>
            </a:r>
            <a:r>
              <a:rPr lang="en-IN" sz="2000" dirty="0"/>
              <a:t>, header = </a:t>
            </a:r>
            <a:r>
              <a:rPr lang="en-IN" sz="2000" dirty="0" err="1"/>
              <a:t>True,inferSchema</a:t>
            </a:r>
            <a:r>
              <a:rPr lang="en-IN" sz="2000" dirty="0"/>
              <a:t> = True)</a:t>
            </a:r>
          </a:p>
          <a:p>
            <a:r>
              <a:rPr lang="en-IN" sz="2000" dirty="0" err="1"/>
              <a:t>data.show</a:t>
            </a:r>
            <a:r>
              <a:rPr lang="en-IN" sz="2000" dirty="0"/>
              <a:t>()</a:t>
            </a:r>
          </a:p>
          <a:p>
            <a:r>
              <a:rPr lang="en-IN" sz="2000" dirty="0" err="1"/>
              <a:t>feature_columns</a:t>
            </a:r>
            <a:r>
              <a:rPr lang="en-IN" sz="2000" dirty="0"/>
              <a:t> = </a:t>
            </a:r>
            <a:r>
              <a:rPr lang="en-IN" sz="2000" dirty="0" err="1"/>
              <a:t>data.columns</a:t>
            </a:r>
            <a:r>
              <a:rPr lang="en-IN" sz="2000" dirty="0"/>
              <a:t>[:-1]</a:t>
            </a:r>
          </a:p>
          <a:p>
            <a:r>
              <a:rPr lang="en-IN" sz="2000" dirty="0"/>
              <a:t>print(</a:t>
            </a:r>
            <a:r>
              <a:rPr lang="en-IN" sz="2000" dirty="0" err="1"/>
              <a:t>feature_columns</a:t>
            </a:r>
            <a:r>
              <a:rPr lang="en-IN" sz="2000" dirty="0"/>
              <a:t>)</a:t>
            </a:r>
          </a:p>
        </p:txBody>
      </p:sp>
    </p:spTree>
    <p:extLst>
      <p:ext uri="{BB962C8B-B14F-4D97-AF65-F5344CB8AC3E}">
        <p14:creationId xmlns:p14="http://schemas.microsoft.com/office/powerpoint/2010/main" val="1930066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60D1D-92D6-3BDF-5B11-F63DC6E1B7A1}"/>
              </a:ext>
            </a:extLst>
          </p:cNvPr>
          <p:cNvSpPr>
            <a:spLocks noGrp="1"/>
          </p:cNvSpPr>
          <p:nvPr>
            <p:ph type="title"/>
          </p:nvPr>
        </p:nvSpPr>
        <p:spPr>
          <a:xfrm>
            <a:off x="578734" y="497712"/>
            <a:ext cx="10515600" cy="919665"/>
          </a:xfrm>
        </p:spPr>
        <p:txBody>
          <a:bodyPr/>
          <a:lstStyle/>
          <a:p>
            <a:r>
              <a:rPr lang="en-IN" b="1" dirty="0">
                <a:solidFill>
                  <a:srgbClr val="FF0000"/>
                </a:solidFill>
              </a:rPr>
              <a:t>Vector Assembler</a:t>
            </a:r>
          </a:p>
        </p:txBody>
      </p:sp>
      <p:sp>
        <p:nvSpPr>
          <p:cNvPr id="5" name="TextBox 4">
            <a:extLst>
              <a:ext uri="{FF2B5EF4-FFF2-40B4-BE49-F238E27FC236}">
                <a16:creationId xmlns:a16="http://schemas.microsoft.com/office/drawing/2014/main" id="{3C0C5FB2-E734-056E-98A1-DA8FFEB7040F}"/>
              </a:ext>
            </a:extLst>
          </p:cNvPr>
          <p:cNvSpPr txBox="1"/>
          <p:nvPr/>
        </p:nvSpPr>
        <p:spPr>
          <a:xfrm>
            <a:off x="462987" y="1951672"/>
            <a:ext cx="11482086" cy="4154984"/>
          </a:xfrm>
          <a:prstGeom prst="rect">
            <a:avLst/>
          </a:prstGeom>
          <a:noFill/>
        </p:spPr>
        <p:txBody>
          <a:bodyPr wrap="square">
            <a:spAutoFit/>
          </a:bodyPr>
          <a:lstStyle/>
          <a:p>
            <a:r>
              <a:rPr lang="en-US" sz="2400" dirty="0" err="1"/>
              <a:t>VectorAssembler</a:t>
            </a:r>
            <a:r>
              <a:rPr lang="en-US" sz="2400" dirty="0"/>
              <a:t> is a </a:t>
            </a:r>
            <a:r>
              <a:rPr lang="en-US" sz="2400" dirty="0" err="1"/>
              <a:t>PySpark</a:t>
            </a:r>
            <a:r>
              <a:rPr lang="en-US" sz="2400" dirty="0"/>
              <a:t> ML feature transformer that </a:t>
            </a:r>
            <a:r>
              <a:rPr lang="en-US" sz="2400" b="1" dirty="0"/>
              <a:t>combines multiple columns</a:t>
            </a:r>
            <a:r>
              <a:rPr lang="en-US" sz="2400" dirty="0"/>
              <a:t> (your numeric input features) into </a:t>
            </a:r>
            <a:r>
              <a:rPr lang="en-US" sz="2400" b="1" dirty="0"/>
              <a:t>one vector column</a:t>
            </a:r>
            <a:r>
              <a:rPr lang="en-US" sz="2400" dirty="0"/>
              <a:t>.</a:t>
            </a:r>
            <a:endParaRPr lang="en-IN" sz="2400" dirty="0"/>
          </a:p>
          <a:p>
            <a:endParaRPr lang="en-IN" sz="2400" dirty="0"/>
          </a:p>
          <a:p>
            <a:endParaRPr lang="en-IN" sz="2400" dirty="0"/>
          </a:p>
          <a:p>
            <a:r>
              <a:rPr lang="en-IN" sz="2400" dirty="0"/>
              <a:t>from </a:t>
            </a:r>
            <a:r>
              <a:rPr lang="en-IN" sz="2400" dirty="0" err="1"/>
              <a:t>pyspark.ml.feature</a:t>
            </a:r>
            <a:r>
              <a:rPr lang="en-IN" sz="2400" dirty="0"/>
              <a:t> import </a:t>
            </a:r>
            <a:r>
              <a:rPr lang="en-IN" sz="2400" dirty="0" err="1"/>
              <a:t>VectorAssembler</a:t>
            </a:r>
            <a:endParaRPr lang="en-IN" sz="2400" dirty="0"/>
          </a:p>
          <a:p>
            <a:r>
              <a:rPr lang="en-IN" sz="2400" dirty="0">
                <a:solidFill>
                  <a:srgbClr val="FF0000"/>
                </a:solidFill>
              </a:rPr>
              <a:t>// features is the new column that will store the input in the form of array</a:t>
            </a:r>
          </a:p>
          <a:p>
            <a:r>
              <a:rPr lang="en-IN" sz="2400" dirty="0"/>
              <a:t>assembler =</a:t>
            </a:r>
            <a:r>
              <a:rPr lang="en-IN" sz="2400" dirty="0" err="1"/>
              <a:t>VectorAssembler</a:t>
            </a:r>
            <a:r>
              <a:rPr lang="en-IN" sz="2400" dirty="0"/>
              <a:t>(</a:t>
            </a:r>
            <a:r>
              <a:rPr lang="en-IN" sz="2400" dirty="0" err="1"/>
              <a:t>inputCols</a:t>
            </a:r>
            <a:r>
              <a:rPr lang="en-IN" sz="2400" dirty="0"/>
              <a:t>=</a:t>
            </a:r>
            <a:r>
              <a:rPr lang="en-IN" sz="2400" dirty="0" err="1"/>
              <a:t>feature_columns,outputCol</a:t>
            </a:r>
            <a:r>
              <a:rPr lang="en-IN" sz="2400" dirty="0"/>
              <a:t>="features")</a:t>
            </a:r>
          </a:p>
          <a:p>
            <a:r>
              <a:rPr lang="en-IN" sz="2400" dirty="0">
                <a:solidFill>
                  <a:srgbClr val="FF0000"/>
                </a:solidFill>
              </a:rPr>
              <a:t>// I</a:t>
            </a:r>
            <a:r>
              <a:rPr lang="en-US" sz="2400" dirty="0">
                <a:solidFill>
                  <a:srgbClr val="FF0000"/>
                </a:solidFill>
              </a:rPr>
              <a:t>t takes your </a:t>
            </a:r>
            <a:r>
              <a:rPr lang="en-US" sz="2400" dirty="0" err="1">
                <a:solidFill>
                  <a:srgbClr val="FF0000"/>
                </a:solidFill>
              </a:rPr>
              <a:t>DataFrame</a:t>
            </a:r>
            <a:r>
              <a:rPr lang="en-US" sz="2400" dirty="0">
                <a:solidFill>
                  <a:srgbClr val="FF0000"/>
                </a:solidFill>
              </a:rPr>
              <a:t> as input and </a:t>
            </a:r>
            <a:r>
              <a:rPr lang="en-US" sz="2400" b="1" dirty="0">
                <a:solidFill>
                  <a:srgbClr val="FF0000"/>
                </a:solidFill>
              </a:rPr>
              <a:t>adds new columns</a:t>
            </a:r>
            <a:r>
              <a:rPr lang="en-US" sz="2400" dirty="0">
                <a:solidFill>
                  <a:srgbClr val="FF0000"/>
                </a:solidFill>
              </a:rPr>
              <a:t> (or modifies existing ones) based on the operation.</a:t>
            </a:r>
            <a:endParaRPr lang="en-IN" sz="2400" dirty="0">
              <a:solidFill>
                <a:srgbClr val="FF0000"/>
              </a:solidFill>
            </a:endParaRPr>
          </a:p>
          <a:p>
            <a:r>
              <a:rPr lang="en-IN" sz="2400" dirty="0"/>
              <a:t>data_2 = </a:t>
            </a:r>
            <a:r>
              <a:rPr lang="en-IN" sz="2400" dirty="0" err="1"/>
              <a:t>assembler.transform</a:t>
            </a:r>
            <a:r>
              <a:rPr lang="en-IN" sz="2400" dirty="0"/>
              <a:t>(data)</a:t>
            </a:r>
          </a:p>
          <a:p>
            <a:r>
              <a:rPr lang="en-IN" sz="2400" dirty="0"/>
              <a:t>data_2.show()</a:t>
            </a:r>
          </a:p>
        </p:txBody>
      </p:sp>
    </p:spTree>
    <p:extLst>
      <p:ext uri="{BB962C8B-B14F-4D97-AF65-F5344CB8AC3E}">
        <p14:creationId xmlns:p14="http://schemas.microsoft.com/office/powerpoint/2010/main" val="1369119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197F6-0435-0608-A1A0-7C1D6B92FE97}"/>
              </a:ext>
            </a:extLst>
          </p:cNvPr>
          <p:cNvSpPr>
            <a:spLocks noGrp="1"/>
          </p:cNvSpPr>
          <p:nvPr>
            <p:ph type="title"/>
          </p:nvPr>
        </p:nvSpPr>
        <p:spPr>
          <a:xfrm>
            <a:off x="699304" y="98908"/>
            <a:ext cx="10515600" cy="884941"/>
          </a:xfrm>
        </p:spPr>
        <p:txBody>
          <a:bodyPr/>
          <a:lstStyle/>
          <a:p>
            <a:r>
              <a:rPr lang="en-IN" b="1" dirty="0">
                <a:solidFill>
                  <a:srgbClr val="FF0000"/>
                </a:solidFill>
              </a:rPr>
              <a:t>Training and Testing of Data</a:t>
            </a:r>
          </a:p>
        </p:txBody>
      </p:sp>
      <p:sp>
        <p:nvSpPr>
          <p:cNvPr id="5" name="TextBox 4">
            <a:extLst>
              <a:ext uri="{FF2B5EF4-FFF2-40B4-BE49-F238E27FC236}">
                <a16:creationId xmlns:a16="http://schemas.microsoft.com/office/drawing/2014/main" id="{DB7D943E-D835-1AA9-56F5-7AEB92B70F53}"/>
              </a:ext>
            </a:extLst>
          </p:cNvPr>
          <p:cNvSpPr txBox="1"/>
          <p:nvPr/>
        </p:nvSpPr>
        <p:spPr>
          <a:xfrm>
            <a:off x="699304" y="1254291"/>
            <a:ext cx="9132425" cy="3046988"/>
          </a:xfrm>
          <a:prstGeom prst="rect">
            <a:avLst/>
          </a:prstGeom>
          <a:noFill/>
        </p:spPr>
        <p:txBody>
          <a:bodyPr wrap="square">
            <a:spAutoFit/>
          </a:bodyPr>
          <a:lstStyle/>
          <a:p>
            <a:r>
              <a:rPr lang="en-IN" sz="2400" dirty="0" err="1"/>
              <a:t>train,test</a:t>
            </a:r>
            <a:r>
              <a:rPr lang="en-IN" sz="2400" dirty="0"/>
              <a:t> =data_2.randomSplit([0.7,0.3])</a:t>
            </a:r>
          </a:p>
          <a:p>
            <a:r>
              <a:rPr lang="en-IN" sz="2400" dirty="0"/>
              <a:t>from </a:t>
            </a:r>
            <a:r>
              <a:rPr lang="en-IN" sz="2400" dirty="0" err="1"/>
              <a:t>pyspark.ml.regression</a:t>
            </a:r>
            <a:r>
              <a:rPr lang="en-IN" sz="2400" dirty="0"/>
              <a:t> import </a:t>
            </a:r>
            <a:r>
              <a:rPr lang="en-IN" sz="2400" dirty="0" err="1"/>
              <a:t>LinearRegression</a:t>
            </a:r>
            <a:endParaRPr lang="en-IN" sz="2400" dirty="0"/>
          </a:p>
          <a:p>
            <a:r>
              <a:rPr lang="en-IN" sz="2400" dirty="0"/>
              <a:t>algo = </a:t>
            </a:r>
            <a:r>
              <a:rPr lang="en-IN" sz="2400" dirty="0" err="1"/>
              <a:t>LinearRegression</a:t>
            </a:r>
            <a:r>
              <a:rPr lang="en-IN" sz="2400" dirty="0"/>
              <a:t>(</a:t>
            </a:r>
            <a:r>
              <a:rPr lang="en-IN" sz="2400" dirty="0" err="1"/>
              <a:t>featuresCol</a:t>
            </a:r>
            <a:r>
              <a:rPr lang="en-IN" sz="2400" dirty="0"/>
              <a:t> ="features",</a:t>
            </a:r>
            <a:r>
              <a:rPr lang="en-IN" sz="2400" dirty="0" err="1"/>
              <a:t>labelCol</a:t>
            </a:r>
            <a:r>
              <a:rPr lang="en-IN" sz="2400" dirty="0"/>
              <a:t> ="</a:t>
            </a:r>
            <a:r>
              <a:rPr lang="en-IN" sz="2400" dirty="0" err="1"/>
              <a:t>medv</a:t>
            </a:r>
            <a:r>
              <a:rPr lang="en-IN" sz="2400" dirty="0"/>
              <a:t>")</a:t>
            </a:r>
          </a:p>
          <a:p>
            <a:r>
              <a:rPr lang="en-IN" sz="2400" dirty="0"/>
              <a:t>model = </a:t>
            </a:r>
            <a:r>
              <a:rPr lang="en-IN" sz="2400" dirty="0" err="1"/>
              <a:t>algo.fit</a:t>
            </a:r>
            <a:r>
              <a:rPr lang="en-IN" sz="2400" dirty="0"/>
              <a:t>(train)</a:t>
            </a:r>
          </a:p>
          <a:p>
            <a:r>
              <a:rPr lang="en-IN" sz="2400" dirty="0" err="1"/>
              <a:t>evaluation_summary</a:t>
            </a:r>
            <a:r>
              <a:rPr lang="en-IN" sz="2400" dirty="0"/>
              <a:t> = </a:t>
            </a:r>
            <a:r>
              <a:rPr lang="en-IN" sz="2400" dirty="0" err="1"/>
              <a:t>model.evaluate</a:t>
            </a:r>
            <a:r>
              <a:rPr lang="en-IN" sz="2400" dirty="0"/>
              <a:t>(test)</a:t>
            </a:r>
          </a:p>
          <a:p>
            <a:r>
              <a:rPr lang="en-IN" sz="2400" dirty="0" err="1"/>
              <a:t>evaluation_summary.meanAbsoluteError</a:t>
            </a:r>
            <a:endParaRPr lang="en-IN" sz="2400" dirty="0"/>
          </a:p>
          <a:p>
            <a:r>
              <a:rPr lang="en-IN" sz="2400" dirty="0"/>
              <a:t>predictions = </a:t>
            </a:r>
            <a:r>
              <a:rPr lang="en-IN" sz="2400" dirty="0" err="1"/>
              <a:t>model.transform</a:t>
            </a:r>
            <a:r>
              <a:rPr lang="en-IN" sz="2400" dirty="0"/>
              <a:t>(test)</a:t>
            </a:r>
          </a:p>
          <a:p>
            <a:r>
              <a:rPr lang="en-IN" sz="2400" dirty="0" err="1"/>
              <a:t>predictions.select</a:t>
            </a:r>
            <a:r>
              <a:rPr lang="en-IN" sz="2400" dirty="0"/>
              <a:t>(</a:t>
            </a:r>
            <a:r>
              <a:rPr lang="en-IN" sz="2400" dirty="0" err="1"/>
              <a:t>predictions.columns</a:t>
            </a:r>
            <a:r>
              <a:rPr lang="en-IN" sz="2400" dirty="0"/>
              <a:t>[13:]).show()</a:t>
            </a:r>
          </a:p>
        </p:txBody>
      </p:sp>
    </p:spTree>
    <p:extLst>
      <p:ext uri="{BB962C8B-B14F-4D97-AF65-F5344CB8AC3E}">
        <p14:creationId xmlns:p14="http://schemas.microsoft.com/office/powerpoint/2010/main" val="127635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E3A1-9214-198F-2B8A-2B578E207777}"/>
              </a:ext>
            </a:extLst>
          </p:cNvPr>
          <p:cNvSpPr>
            <a:spLocks noGrp="1"/>
          </p:cNvSpPr>
          <p:nvPr>
            <p:ph type="title"/>
          </p:nvPr>
        </p:nvSpPr>
        <p:spPr>
          <a:xfrm>
            <a:off x="0" y="0"/>
            <a:ext cx="10515600" cy="1050018"/>
          </a:xfrm>
        </p:spPr>
        <p:txBody>
          <a:bodyPr/>
          <a:lstStyle/>
          <a:p>
            <a:r>
              <a:rPr lang="en-IN" b="1" dirty="0">
                <a:solidFill>
                  <a:srgbClr val="FF0000"/>
                </a:solidFill>
              </a:rPr>
              <a:t>Decision Tree</a:t>
            </a:r>
          </a:p>
        </p:txBody>
      </p:sp>
      <p:sp>
        <p:nvSpPr>
          <p:cNvPr id="3" name="Content Placeholder 2">
            <a:extLst>
              <a:ext uri="{FF2B5EF4-FFF2-40B4-BE49-F238E27FC236}">
                <a16:creationId xmlns:a16="http://schemas.microsoft.com/office/drawing/2014/main" id="{069DC35B-1083-C2E6-47A2-252E1E706DD8}"/>
              </a:ext>
            </a:extLst>
          </p:cNvPr>
          <p:cNvSpPr>
            <a:spLocks noGrp="1"/>
          </p:cNvSpPr>
          <p:nvPr>
            <p:ph idx="1"/>
          </p:nvPr>
        </p:nvSpPr>
        <p:spPr>
          <a:xfrm>
            <a:off x="293915" y="1253331"/>
            <a:ext cx="10515600" cy="4351338"/>
          </a:xfrm>
        </p:spPr>
        <p:txBody>
          <a:bodyPr>
            <a:normAutofit fontScale="92500" lnSpcReduction="10000"/>
          </a:bodyPr>
          <a:lstStyle/>
          <a:p>
            <a:pPr fontAlgn="base"/>
            <a:r>
              <a:rPr lang="en-US" dirty="0"/>
              <a:t>A Decision Tree helps us make decisions by showing different options and how they are related. It has a tree-like structure that starts with one main question called the root node which represents the entire dataset. From there, the tree branches out into different possibilities based on features in the data.</a:t>
            </a:r>
          </a:p>
          <a:p>
            <a:pPr fontAlgn="base"/>
            <a:r>
              <a:rPr lang="en-US" b="1" dirty="0"/>
              <a:t>Root Node:</a:t>
            </a:r>
            <a:r>
              <a:rPr lang="en-US" dirty="0"/>
              <a:t> Starting point representing the whole dataset.</a:t>
            </a:r>
          </a:p>
          <a:p>
            <a:pPr fontAlgn="base"/>
            <a:r>
              <a:rPr lang="en-US" b="1" dirty="0"/>
              <a:t>Branches:</a:t>
            </a:r>
            <a:r>
              <a:rPr lang="en-US" dirty="0"/>
              <a:t> Lines connecting nodes showing the flow from one decision to another.</a:t>
            </a:r>
          </a:p>
          <a:p>
            <a:pPr fontAlgn="base"/>
            <a:r>
              <a:rPr lang="en-US" b="1" dirty="0"/>
              <a:t>Internal Nodes:</a:t>
            </a:r>
            <a:r>
              <a:rPr lang="en-US" dirty="0"/>
              <a:t> Points where decisions are made based on data features.</a:t>
            </a:r>
          </a:p>
          <a:p>
            <a:pPr fontAlgn="base"/>
            <a:r>
              <a:rPr lang="en-US" b="1" dirty="0"/>
              <a:t>Leaf Nodes:</a:t>
            </a:r>
            <a:r>
              <a:rPr lang="en-US" dirty="0"/>
              <a:t> End points of the tree where the final decision or prediction is made.</a:t>
            </a:r>
          </a:p>
          <a:p>
            <a:pPr marL="0" indent="0">
              <a:buNone/>
            </a:pPr>
            <a:endParaRPr lang="en-IN" dirty="0"/>
          </a:p>
        </p:txBody>
      </p:sp>
    </p:spTree>
    <p:extLst>
      <p:ext uri="{BB962C8B-B14F-4D97-AF65-F5344CB8AC3E}">
        <p14:creationId xmlns:p14="http://schemas.microsoft.com/office/powerpoint/2010/main" val="2569471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51CD42-9321-03C8-A217-09DA9F35B7F0}"/>
              </a:ext>
            </a:extLst>
          </p:cNvPr>
          <p:cNvPicPr>
            <a:picLocks noChangeAspect="1"/>
          </p:cNvPicPr>
          <p:nvPr/>
        </p:nvPicPr>
        <p:blipFill>
          <a:blip r:embed="rId2"/>
          <a:stretch>
            <a:fillRect/>
          </a:stretch>
        </p:blipFill>
        <p:spPr>
          <a:xfrm>
            <a:off x="855885" y="849086"/>
            <a:ext cx="9903253" cy="4875759"/>
          </a:xfrm>
          <a:prstGeom prst="rect">
            <a:avLst/>
          </a:prstGeom>
        </p:spPr>
      </p:pic>
    </p:spTree>
    <p:extLst>
      <p:ext uri="{BB962C8B-B14F-4D97-AF65-F5344CB8AC3E}">
        <p14:creationId xmlns:p14="http://schemas.microsoft.com/office/powerpoint/2010/main" val="861165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A7858-0868-B400-5EDF-48DE50D8EB3E}"/>
              </a:ext>
            </a:extLst>
          </p:cNvPr>
          <p:cNvSpPr>
            <a:spLocks noGrp="1"/>
          </p:cNvSpPr>
          <p:nvPr>
            <p:ph type="title"/>
          </p:nvPr>
        </p:nvSpPr>
        <p:spPr>
          <a:xfrm>
            <a:off x="762000" y="0"/>
            <a:ext cx="10515600" cy="1121229"/>
          </a:xfrm>
        </p:spPr>
        <p:txBody>
          <a:bodyPr/>
          <a:lstStyle/>
          <a:p>
            <a:r>
              <a:rPr lang="en-IN" b="1" dirty="0">
                <a:solidFill>
                  <a:srgbClr val="FF0000"/>
                </a:solidFill>
              </a:rPr>
              <a:t>Decision Tree</a:t>
            </a:r>
          </a:p>
        </p:txBody>
      </p:sp>
      <p:sp>
        <p:nvSpPr>
          <p:cNvPr id="3" name="Content Placeholder 2">
            <a:extLst>
              <a:ext uri="{FF2B5EF4-FFF2-40B4-BE49-F238E27FC236}">
                <a16:creationId xmlns:a16="http://schemas.microsoft.com/office/drawing/2014/main" id="{7FD10608-C7DC-886A-7616-D521CF39B629}"/>
              </a:ext>
            </a:extLst>
          </p:cNvPr>
          <p:cNvSpPr>
            <a:spLocks noGrp="1"/>
          </p:cNvSpPr>
          <p:nvPr>
            <p:ph idx="1"/>
          </p:nvPr>
        </p:nvSpPr>
        <p:spPr>
          <a:xfrm>
            <a:off x="266219" y="1825625"/>
            <a:ext cx="11653638" cy="4351338"/>
          </a:xfrm>
        </p:spPr>
        <p:txBody>
          <a:bodyPr/>
          <a:lstStyle/>
          <a:p>
            <a:pPr marL="0" indent="0">
              <a:buNone/>
            </a:pPr>
            <a:r>
              <a:rPr lang="en-IN" sz="2400" dirty="0"/>
              <a:t>from </a:t>
            </a:r>
            <a:r>
              <a:rPr lang="en-IN" sz="2400" dirty="0" err="1"/>
              <a:t>pyspark.sql</a:t>
            </a:r>
            <a:r>
              <a:rPr lang="en-IN" sz="2400" dirty="0"/>
              <a:t> import </a:t>
            </a:r>
            <a:r>
              <a:rPr lang="en-IN" sz="2400" dirty="0" err="1"/>
              <a:t>SparkSession</a:t>
            </a:r>
            <a:endParaRPr lang="en-IN" sz="2400" dirty="0"/>
          </a:p>
          <a:p>
            <a:pPr marL="0" indent="0">
              <a:buNone/>
            </a:pPr>
            <a:r>
              <a:rPr lang="en-IN" sz="2400" dirty="0"/>
              <a:t>spark = </a:t>
            </a:r>
            <a:r>
              <a:rPr lang="en-IN" sz="2400" dirty="0" err="1"/>
              <a:t>SparkSession.builder.getOrCreate</a:t>
            </a:r>
            <a:r>
              <a:rPr lang="en-IN" sz="2400" dirty="0"/>
              <a:t>()</a:t>
            </a:r>
          </a:p>
          <a:p>
            <a:endParaRPr lang="en-IN" sz="2400" dirty="0"/>
          </a:p>
          <a:p>
            <a:pPr marL="0" indent="0">
              <a:buNone/>
            </a:pPr>
            <a:r>
              <a:rPr lang="en-IN" sz="2400" dirty="0" err="1"/>
              <a:t>df</a:t>
            </a:r>
            <a:r>
              <a:rPr lang="en-IN" sz="2400" dirty="0"/>
              <a:t> = spark.read.csv('C:/Users/Dell/Desktop/</a:t>
            </a:r>
            <a:r>
              <a:rPr lang="en-IN" sz="2400" dirty="0" err="1"/>
              <a:t>iris.csv',header</a:t>
            </a:r>
            <a:r>
              <a:rPr lang="en-IN" sz="2400" dirty="0"/>
              <a:t>=</a:t>
            </a:r>
            <a:r>
              <a:rPr lang="en-IN" sz="2400" dirty="0" err="1"/>
              <a:t>True,inferSchema</a:t>
            </a:r>
            <a:r>
              <a:rPr lang="en-IN" sz="2400" dirty="0"/>
              <a:t>=True)</a:t>
            </a:r>
          </a:p>
          <a:p>
            <a:pPr marL="0" indent="0">
              <a:buNone/>
            </a:pPr>
            <a:r>
              <a:rPr lang="en-IN" sz="2400" dirty="0" err="1"/>
              <a:t>df.show</a:t>
            </a:r>
            <a:r>
              <a:rPr lang="en-IN" sz="2400" dirty="0"/>
              <a:t>()</a:t>
            </a:r>
          </a:p>
          <a:p>
            <a:endParaRPr lang="en-IN" dirty="0"/>
          </a:p>
        </p:txBody>
      </p:sp>
    </p:spTree>
    <p:extLst>
      <p:ext uri="{BB962C8B-B14F-4D97-AF65-F5344CB8AC3E}">
        <p14:creationId xmlns:p14="http://schemas.microsoft.com/office/powerpoint/2010/main" val="2847558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03ED-827E-8612-4B16-F57E09545B7C}"/>
              </a:ext>
            </a:extLst>
          </p:cNvPr>
          <p:cNvSpPr>
            <a:spLocks noGrp="1"/>
          </p:cNvSpPr>
          <p:nvPr>
            <p:ph type="title"/>
          </p:nvPr>
        </p:nvSpPr>
        <p:spPr/>
        <p:txBody>
          <a:bodyPr/>
          <a:lstStyle/>
          <a:p>
            <a:r>
              <a:rPr lang="en-IN" b="1" dirty="0">
                <a:solidFill>
                  <a:srgbClr val="FF0000"/>
                </a:solidFill>
              </a:rPr>
              <a:t>Transformation of data</a:t>
            </a:r>
          </a:p>
        </p:txBody>
      </p:sp>
      <p:sp>
        <p:nvSpPr>
          <p:cNvPr id="3" name="Content Placeholder 2">
            <a:extLst>
              <a:ext uri="{FF2B5EF4-FFF2-40B4-BE49-F238E27FC236}">
                <a16:creationId xmlns:a16="http://schemas.microsoft.com/office/drawing/2014/main" id="{4599A9A3-01AA-3200-F1F4-41BAE34BBB42}"/>
              </a:ext>
            </a:extLst>
          </p:cNvPr>
          <p:cNvSpPr>
            <a:spLocks noGrp="1"/>
          </p:cNvSpPr>
          <p:nvPr>
            <p:ph idx="1"/>
          </p:nvPr>
        </p:nvSpPr>
        <p:spPr/>
        <p:txBody>
          <a:bodyPr>
            <a:normAutofit lnSpcReduction="10000"/>
          </a:bodyPr>
          <a:lstStyle/>
          <a:p>
            <a:pPr marL="0" indent="0">
              <a:buNone/>
            </a:pPr>
            <a:r>
              <a:rPr lang="en-IN" dirty="0"/>
              <a:t>from </a:t>
            </a:r>
            <a:r>
              <a:rPr lang="en-IN" dirty="0" err="1"/>
              <a:t>pyspark.ml.feature</a:t>
            </a:r>
            <a:r>
              <a:rPr lang="en-IN" dirty="0"/>
              <a:t> import </a:t>
            </a:r>
            <a:r>
              <a:rPr lang="en-IN" dirty="0" err="1"/>
              <a:t>VectorAssembler</a:t>
            </a:r>
            <a:endParaRPr lang="en-IN" dirty="0"/>
          </a:p>
          <a:p>
            <a:pPr marL="0" indent="0">
              <a:buNone/>
            </a:pPr>
            <a:r>
              <a:rPr lang="en-IN" dirty="0" err="1"/>
              <a:t>vector_assembler</a:t>
            </a:r>
            <a:r>
              <a:rPr lang="en-IN" dirty="0"/>
              <a:t> = </a:t>
            </a:r>
            <a:r>
              <a:rPr lang="en-IN" dirty="0" err="1"/>
              <a:t>VectorAssembler</a:t>
            </a:r>
            <a:r>
              <a:rPr lang="en-IN" dirty="0"/>
              <a:t>(</a:t>
            </a:r>
            <a:r>
              <a:rPr lang="en-IN" dirty="0" err="1"/>
              <a:t>inputCols</a:t>
            </a:r>
            <a:r>
              <a:rPr lang="en-IN" dirty="0"/>
              <a:t>=</a:t>
            </a:r>
            <a:r>
              <a:rPr lang="en-IN" dirty="0" err="1"/>
              <a:t>df.columns</a:t>
            </a:r>
            <a:r>
              <a:rPr lang="en-IN" dirty="0"/>
              <a:t>[:-1],</a:t>
            </a:r>
            <a:r>
              <a:rPr lang="en-IN" dirty="0" err="1"/>
              <a:t>outputCol</a:t>
            </a:r>
            <a:r>
              <a:rPr lang="en-IN" dirty="0"/>
              <a:t>="features")</a:t>
            </a:r>
          </a:p>
          <a:p>
            <a:pPr marL="0" indent="0">
              <a:buNone/>
            </a:pPr>
            <a:r>
              <a:rPr lang="en-IN" dirty="0"/>
              <a:t>df1 = </a:t>
            </a:r>
            <a:r>
              <a:rPr lang="en-IN" dirty="0" err="1"/>
              <a:t>vector_assembler.transform</a:t>
            </a:r>
            <a:r>
              <a:rPr lang="en-IN" dirty="0"/>
              <a:t>(</a:t>
            </a:r>
            <a:r>
              <a:rPr lang="en-IN" dirty="0" err="1"/>
              <a:t>df</a:t>
            </a:r>
            <a:r>
              <a:rPr lang="en-IN" dirty="0"/>
              <a:t>)</a:t>
            </a:r>
          </a:p>
          <a:p>
            <a:r>
              <a:rPr lang="en-US" dirty="0" err="1">
                <a:solidFill>
                  <a:srgbClr val="FF0000"/>
                </a:solidFill>
              </a:rPr>
              <a:t>StringIndexer</a:t>
            </a:r>
            <a:r>
              <a:rPr lang="en-US" dirty="0">
                <a:solidFill>
                  <a:srgbClr val="FF0000"/>
                </a:solidFill>
              </a:rPr>
              <a:t> is a </a:t>
            </a:r>
            <a:r>
              <a:rPr lang="en-US" dirty="0" err="1">
                <a:solidFill>
                  <a:srgbClr val="FF0000"/>
                </a:solidFill>
              </a:rPr>
              <a:t>PySpark</a:t>
            </a:r>
            <a:r>
              <a:rPr lang="en-US" dirty="0">
                <a:solidFill>
                  <a:srgbClr val="FF0000"/>
                </a:solidFill>
              </a:rPr>
              <a:t> feature transformer that </a:t>
            </a:r>
            <a:r>
              <a:rPr lang="en-US" b="1" dirty="0">
                <a:solidFill>
                  <a:srgbClr val="FF0000"/>
                </a:solidFill>
              </a:rPr>
              <a:t>converts text (categorical)</a:t>
            </a:r>
            <a:r>
              <a:rPr lang="en-US" dirty="0">
                <a:solidFill>
                  <a:srgbClr val="FF0000"/>
                </a:solidFill>
              </a:rPr>
              <a:t> values into </a:t>
            </a:r>
            <a:r>
              <a:rPr lang="en-US" b="1" dirty="0">
                <a:solidFill>
                  <a:srgbClr val="FF0000"/>
                </a:solidFill>
              </a:rPr>
              <a:t>numeric labels</a:t>
            </a:r>
            <a:r>
              <a:rPr lang="en-US" dirty="0">
                <a:solidFill>
                  <a:srgbClr val="FF0000"/>
                </a:solidFill>
              </a:rPr>
              <a:t>.</a:t>
            </a:r>
            <a:br>
              <a:rPr lang="en-US" dirty="0">
                <a:solidFill>
                  <a:srgbClr val="FF0000"/>
                </a:solidFill>
              </a:rPr>
            </a:br>
            <a:r>
              <a:rPr lang="en-US" dirty="0">
                <a:solidFill>
                  <a:srgbClr val="FF0000"/>
                </a:solidFill>
              </a:rPr>
              <a:t>Machine learning models in Spark </a:t>
            </a:r>
            <a:r>
              <a:rPr lang="en-US" b="1" dirty="0">
                <a:solidFill>
                  <a:srgbClr val="FF0000"/>
                </a:solidFill>
              </a:rPr>
              <a:t>can’t handle string labels</a:t>
            </a:r>
            <a:r>
              <a:rPr lang="en-US" dirty="0">
                <a:solidFill>
                  <a:srgbClr val="FF0000"/>
                </a:solidFill>
              </a:rPr>
              <a:t>, so we must turn them into numbers first.</a:t>
            </a:r>
            <a:endParaRPr lang="en-IN" dirty="0">
              <a:solidFill>
                <a:srgbClr val="FF0000"/>
              </a:solidFill>
            </a:endParaRPr>
          </a:p>
          <a:p>
            <a:pPr marL="0" indent="0">
              <a:buNone/>
            </a:pPr>
            <a:r>
              <a:rPr lang="en-IN" dirty="0"/>
              <a:t>from </a:t>
            </a:r>
            <a:r>
              <a:rPr lang="en-IN" dirty="0" err="1"/>
              <a:t>pyspark.ml.feature</a:t>
            </a:r>
            <a:r>
              <a:rPr lang="en-IN" dirty="0"/>
              <a:t> import </a:t>
            </a:r>
            <a:r>
              <a:rPr lang="en-IN" dirty="0" err="1"/>
              <a:t>StringIndexer</a:t>
            </a:r>
            <a:endParaRPr lang="en-IN" dirty="0"/>
          </a:p>
          <a:p>
            <a:pPr marL="0" indent="0">
              <a:buNone/>
            </a:pPr>
            <a:r>
              <a:rPr lang="en-IN" dirty="0" err="1"/>
              <a:t>a_indexer</a:t>
            </a:r>
            <a:r>
              <a:rPr lang="en-IN" dirty="0"/>
              <a:t> = </a:t>
            </a:r>
            <a:r>
              <a:rPr lang="en-IN" dirty="0" err="1"/>
              <a:t>StringIndexer</a:t>
            </a:r>
            <a:r>
              <a:rPr lang="en-IN" dirty="0"/>
              <a:t>(</a:t>
            </a:r>
            <a:r>
              <a:rPr lang="en-IN" dirty="0" err="1"/>
              <a:t>inputCol</a:t>
            </a:r>
            <a:r>
              <a:rPr lang="en-IN" dirty="0"/>
              <a:t>="species", </a:t>
            </a:r>
            <a:r>
              <a:rPr lang="en-IN" dirty="0" err="1"/>
              <a:t>outputCol</a:t>
            </a:r>
            <a:r>
              <a:rPr lang="en-IN" dirty="0"/>
              <a:t>="</a:t>
            </a:r>
            <a:r>
              <a:rPr lang="en-IN" dirty="0" err="1"/>
              <a:t>labelIndex</a:t>
            </a:r>
            <a:r>
              <a:rPr lang="en-IN" dirty="0"/>
              <a:t>")</a:t>
            </a:r>
          </a:p>
        </p:txBody>
      </p:sp>
    </p:spTree>
    <p:extLst>
      <p:ext uri="{BB962C8B-B14F-4D97-AF65-F5344CB8AC3E}">
        <p14:creationId xmlns:p14="http://schemas.microsoft.com/office/powerpoint/2010/main" val="2402813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6591B-91FD-C84B-BCF7-D5BEE6965ECC}"/>
              </a:ext>
            </a:extLst>
          </p:cNvPr>
          <p:cNvSpPr>
            <a:spLocks noGrp="1"/>
          </p:cNvSpPr>
          <p:nvPr>
            <p:ph type="title"/>
          </p:nvPr>
        </p:nvSpPr>
        <p:spPr/>
        <p:txBody>
          <a:bodyPr/>
          <a:lstStyle/>
          <a:p>
            <a:r>
              <a:rPr lang="en-IN" b="1" dirty="0">
                <a:solidFill>
                  <a:srgbClr val="FF0000"/>
                </a:solidFill>
              </a:rPr>
              <a:t>Training and Testing of Data</a:t>
            </a:r>
          </a:p>
        </p:txBody>
      </p:sp>
      <p:sp>
        <p:nvSpPr>
          <p:cNvPr id="3" name="Content Placeholder 2">
            <a:extLst>
              <a:ext uri="{FF2B5EF4-FFF2-40B4-BE49-F238E27FC236}">
                <a16:creationId xmlns:a16="http://schemas.microsoft.com/office/drawing/2014/main" id="{475F0C61-2F4E-B62D-47B0-431C12B9D395}"/>
              </a:ext>
            </a:extLst>
          </p:cNvPr>
          <p:cNvSpPr>
            <a:spLocks noGrp="1"/>
          </p:cNvSpPr>
          <p:nvPr>
            <p:ph idx="1"/>
          </p:nvPr>
        </p:nvSpPr>
        <p:spPr/>
        <p:txBody>
          <a:bodyPr/>
          <a:lstStyle/>
          <a:p>
            <a:pPr marL="0" indent="0">
              <a:buNone/>
            </a:pPr>
            <a:r>
              <a:rPr lang="en-IN" dirty="0"/>
              <a:t>df1 = </a:t>
            </a:r>
            <a:r>
              <a:rPr lang="en-IN" dirty="0" err="1"/>
              <a:t>a_indexer.fit</a:t>
            </a:r>
            <a:r>
              <a:rPr lang="en-IN" dirty="0"/>
              <a:t>(df1).transform(df1)</a:t>
            </a:r>
          </a:p>
          <a:p>
            <a:pPr marL="0" indent="0">
              <a:buNone/>
            </a:pPr>
            <a:r>
              <a:rPr lang="en-IN" dirty="0"/>
              <a:t>(</a:t>
            </a:r>
            <a:r>
              <a:rPr lang="en-IN" dirty="0" err="1"/>
              <a:t>trainingData</a:t>
            </a:r>
            <a:r>
              <a:rPr lang="en-IN" dirty="0"/>
              <a:t>, </a:t>
            </a:r>
            <a:r>
              <a:rPr lang="en-IN" dirty="0" err="1"/>
              <a:t>testData</a:t>
            </a:r>
            <a:r>
              <a:rPr lang="en-IN" dirty="0"/>
              <a:t>) = df1.randomSplit([0.7, 0.3])</a:t>
            </a:r>
          </a:p>
          <a:p>
            <a:pPr marL="0" indent="0">
              <a:buNone/>
            </a:pPr>
            <a:endParaRPr lang="en-IN" dirty="0"/>
          </a:p>
        </p:txBody>
      </p:sp>
    </p:spTree>
    <p:extLst>
      <p:ext uri="{BB962C8B-B14F-4D97-AF65-F5344CB8AC3E}">
        <p14:creationId xmlns:p14="http://schemas.microsoft.com/office/powerpoint/2010/main" val="566773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BEF21-FF86-318A-EA64-1CD3C323707D}"/>
              </a:ext>
            </a:extLst>
          </p:cNvPr>
          <p:cNvSpPr>
            <a:spLocks noGrp="1"/>
          </p:cNvSpPr>
          <p:nvPr>
            <p:ph type="title"/>
          </p:nvPr>
        </p:nvSpPr>
        <p:spPr/>
        <p:txBody>
          <a:bodyPr/>
          <a:lstStyle/>
          <a:p>
            <a:r>
              <a:rPr lang="en-IN" b="1" dirty="0">
                <a:solidFill>
                  <a:srgbClr val="FF0000"/>
                </a:solidFill>
              </a:rPr>
              <a:t>Applying DT</a:t>
            </a:r>
          </a:p>
        </p:txBody>
      </p:sp>
      <p:sp>
        <p:nvSpPr>
          <p:cNvPr id="3" name="Content Placeholder 2">
            <a:extLst>
              <a:ext uri="{FF2B5EF4-FFF2-40B4-BE49-F238E27FC236}">
                <a16:creationId xmlns:a16="http://schemas.microsoft.com/office/drawing/2014/main" id="{F6104E14-06AB-C1C8-60CC-88B38DE1D379}"/>
              </a:ext>
            </a:extLst>
          </p:cNvPr>
          <p:cNvSpPr>
            <a:spLocks noGrp="1"/>
          </p:cNvSpPr>
          <p:nvPr>
            <p:ph idx="1"/>
          </p:nvPr>
        </p:nvSpPr>
        <p:spPr/>
        <p:txBody>
          <a:bodyPr/>
          <a:lstStyle/>
          <a:p>
            <a:pPr marL="0" indent="0">
              <a:buNone/>
            </a:pPr>
            <a:r>
              <a:rPr lang="en-IN" dirty="0"/>
              <a:t>from </a:t>
            </a:r>
            <a:r>
              <a:rPr lang="en-IN" dirty="0" err="1"/>
              <a:t>pyspark.ml.classification</a:t>
            </a:r>
            <a:r>
              <a:rPr lang="en-IN" dirty="0"/>
              <a:t> import </a:t>
            </a:r>
            <a:r>
              <a:rPr lang="en-IN" dirty="0" err="1"/>
              <a:t>DecisionTreeClassifier</a:t>
            </a:r>
            <a:endParaRPr lang="en-IN" dirty="0"/>
          </a:p>
          <a:p>
            <a:pPr marL="0" indent="0">
              <a:buNone/>
            </a:pPr>
            <a:r>
              <a:rPr lang="en-IN" dirty="0"/>
              <a:t>from </a:t>
            </a:r>
            <a:r>
              <a:rPr lang="en-IN" dirty="0" err="1"/>
              <a:t>pyspark.ml.evaluation</a:t>
            </a:r>
            <a:r>
              <a:rPr lang="en-IN" dirty="0"/>
              <a:t> import </a:t>
            </a:r>
            <a:r>
              <a:rPr lang="en-IN" dirty="0" err="1"/>
              <a:t>MulticlassClassificationEvaluator</a:t>
            </a:r>
            <a:endParaRPr lang="en-IN" dirty="0"/>
          </a:p>
          <a:p>
            <a:pPr marL="0" indent="0">
              <a:buNone/>
            </a:pPr>
            <a:r>
              <a:rPr lang="en-IN" dirty="0"/>
              <a:t>dt = </a:t>
            </a:r>
            <a:r>
              <a:rPr lang="en-IN" dirty="0" err="1"/>
              <a:t>DecisionTreeClassifier</a:t>
            </a:r>
            <a:r>
              <a:rPr lang="en-IN" dirty="0"/>
              <a:t>(</a:t>
            </a:r>
            <a:r>
              <a:rPr lang="en-IN" dirty="0" err="1"/>
              <a:t>labelCol</a:t>
            </a:r>
            <a:r>
              <a:rPr lang="en-IN" dirty="0"/>
              <a:t>="</a:t>
            </a:r>
            <a:r>
              <a:rPr lang="en-IN" dirty="0" err="1"/>
              <a:t>labelIndex</a:t>
            </a:r>
            <a:r>
              <a:rPr lang="en-IN" dirty="0"/>
              <a:t>", </a:t>
            </a:r>
            <a:r>
              <a:rPr lang="en-IN" dirty="0" err="1"/>
              <a:t>featuresCol</a:t>
            </a:r>
            <a:r>
              <a:rPr lang="en-IN" dirty="0"/>
              <a:t>="features")</a:t>
            </a:r>
          </a:p>
          <a:p>
            <a:pPr marL="0" indent="0">
              <a:buNone/>
            </a:pPr>
            <a:r>
              <a:rPr lang="en-IN" dirty="0"/>
              <a:t>model = </a:t>
            </a:r>
            <a:r>
              <a:rPr lang="en-IN" dirty="0" err="1"/>
              <a:t>dt.fit</a:t>
            </a:r>
            <a:r>
              <a:rPr lang="en-IN" dirty="0"/>
              <a:t>(</a:t>
            </a:r>
            <a:r>
              <a:rPr lang="en-IN" dirty="0" err="1"/>
              <a:t>trainingData</a:t>
            </a:r>
            <a:r>
              <a:rPr lang="en-IN" dirty="0"/>
              <a:t>)</a:t>
            </a:r>
          </a:p>
          <a:p>
            <a:pPr marL="0" indent="0">
              <a:buNone/>
            </a:pPr>
            <a:r>
              <a:rPr lang="en-IN" dirty="0"/>
              <a:t>predictions = </a:t>
            </a:r>
            <a:r>
              <a:rPr lang="en-IN" dirty="0" err="1"/>
              <a:t>model.transform</a:t>
            </a:r>
            <a:r>
              <a:rPr lang="en-IN" dirty="0"/>
              <a:t>(</a:t>
            </a:r>
            <a:r>
              <a:rPr lang="en-IN" dirty="0" err="1"/>
              <a:t>testData</a:t>
            </a:r>
            <a:r>
              <a:rPr lang="en-IN" dirty="0"/>
              <a:t>)</a:t>
            </a:r>
          </a:p>
          <a:p>
            <a:pPr marL="0" indent="0">
              <a:buNone/>
            </a:pPr>
            <a:r>
              <a:rPr lang="en-IN" dirty="0" err="1"/>
              <a:t>predictions.select</a:t>
            </a:r>
            <a:r>
              <a:rPr lang="en-IN" dirty="0"/>
              <a:t>("prediction", "</a:t>
            </a:r>
            <a:r>
              <a:rPr lang="en-IN" dirty="0" err="1"/>
              <a:t>labelIndex</a:t>
            </a:r>
            <a:r>
              <a:rPr lang="en-IN" dirty="0"/>
              <a:t>").show(5)</a:t>
            </a:r>
          </a:p>
        </p:txBody>
      </p:sp>
    </p:spTree>
    <p:extLst>
      <p:ext uri="{BB962C8B-B14F-4D97-AF65-F5344CB8AC3E}">
        <p14:creationId xmlns:p14="http://schemas.microsoft.com/office/powerpoint/2010/main" val="3783930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A0A58-63CA-3858-3626-821257C20EF6}"/>
              </a:ext>
            </a:extLst>
          </p:cNvPr>
          <p:cNvSpPr>
            <a:spLocks noGrp="1"/>
          </p:cNvSpPr>
          <p:nvPr>
            <p:ph type="title"/>
          </p:nvPr>
        </p:nvSpPr>
        <p:spPr/>
        <p:txBody>
          <a:bodyPr/>
          <a:lstStyle/>
          <a:p>
            <a:r>
              <a:rPr lang="en-IN" b="1" dirty="0">
                <a:solidFill>
                  <a:srgbClr val="FF0000"/>
                </a:solidFill>
              </a:rPr>
              <a:t>Model Evaluation</a:t>
            </a:r>
          </a:p>
        </p:txBody>
      </p:sp>
      <p:sp>
        <p:nvSpPr>
          <p:cNvPr id="3" name="Content Placeholder 2">
            <a:extLst>
              <a:ext uri="{FF2B5EF4-FFF2-40B4-BE49-F238E27FC236}">
                <a16:creationId xmlns:a16="http://schemas.microsoft.com/office/drawing/2014/main" id="{8F66895F-92D8-7656-6981-BF2970AB94AC}"/>
              </a:ext>
            </a:extLst>
          </p:cNvPr>
          <p:cNvSpPr>
            <a:spLocks noGrp="1"/>
          </p:cNvSpPr>
          <p:nvPr>
            <p:ph idx="1"/>
          </p:nvPr>
        </p:nvSpPr>
        <p:spPr/>
        <p:txBody>
          <a:bodyPr/>
          <a:lstStyle/>
          <a:p>
            <a:pPr marL="0" indent="0">
              <a:buNone/>
            </a:pPr>
            <a:r>
              <a:rPr lang="en-IN" dirty="0"/>
              <a:t>evaluator = </a:t>
            </a:r>
            <a:r>
              <a:rPr lang="en-IN" dirty="0" err="1"/>
              <a:t>MulticlassClassificationEvaluator</a:t>
            </a:r>
            <a:r>
              <a:rPr lang="en-IN" dirty="0"/>
              <a:t>(</a:t>
            </a:r>
            <a:r>
              <a:rPr lang="en-IN" dirty="0" err="1"/>
              <a:t>labelCol</a:t>
            </a:r>
            <a:r>
              <a:rPr lang="en-IN" dirty="0"/>
              <a:t>="</a:t>
            </a:r>
            <a:r>
              <a:rPr lang="en-IN" dirty="0" err="1"/>
              <a:t>labelIndex</a:t>
            </a:r>
            <a:r>
              <a:rPr lang="en-IN" dirty="0"/>
              <a:t>", </a:t>
            </a:r>
            <a:r>
              <a:rPr lang="en-IN" dirty="0" err="1"/>
              <a:t>predictionCol</a:t>
            </a:r>
            <a:r>
              <a:rPr lang="en-IN" dirty="0"/>
              <a:t>="prediction",</a:t>
            </a:r>
            <a:r>
              <a:rPr lang="en-IN" dirty="0" err="1"/>
              <a:t>metricName</a:t>
            </a:r>
            <a:r>
              <a:rPr lang="en-IN" dirty="0"/>
              <a:t>="accuracy")</a:t>
            </a:r>
          </a:p>
          <a:p>
            <a:pPr marL="0" indent="0">
              <a:buNone/>
            </a:pPr>
            <a:r>
              <a:rPr lang="en-IN" dirty="0"/>
              <a:t>accuracy = </a:t>
            </a:r>
            <a:r>
              <a:rPr lang="en-IN" dirty="0" err="1"/>
              <a:t>evaluator.evaluate</a:t>
            </a:r>
            <a:r>
              <a:rPr lang="en-IN" dirty="0"/>
              <a:t>(predictions)</a:t>
            </a:r>
          </a:p>
          <a:p>
            <a:pPr marL="0" indent="0">
              <a:buNone/>
            </a:pPr>
            <a:r>
              <a:rPr lang="en-IN" dirty="0"/>
              <a:t>print(accuracy)</a:t>
            </a:r>
          </a:p>
          <a:p>
            <a:pPr marL="0" indent="0">
              <a:buNone/>
            </a:pPr>
            <a:r>
              <a:rPr lang="en-IN" dirty="0"/>
              <a:t>print("Test Error = %g " % (1.0 - accuracy))</a:t>
            </a:r>
          </a:p>
          <a:p>
            <a:pPr marL="0" indent="0">
              <a:buNone/>
            </a:pPr>
            <a:r>
              <a:rPr lang="en-IN" dirty="0"/>
              <a:t>print(model)</a:t>
            </a:r>
          </a:p>
          <a:p>
            <a:pPr marL="0" indent="0">
              <a:buNone/>
            </a:pPr>
            <a:endParaRPr lang="en-IN" dirty="0"/>
          </a:p>
        </p:txBody>
      </p:sp>
    </p:spTree>
    <p:extLst>
      <p:ext uri="{BB962C8B-B14F-4D97-AF65-F5344CB8AC3E}">
        <p14:creationId xmlns:p14="http://schemas.microsoft.com/office/powerpoint/2010/main" val="4164868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1194</TotalTime>
  <Words>942</Words>
  <Application>Microsoft Office PowerPoint</Application>
  <PresentationFormat>Widescreen</PresentationFormat>
  <Paragraphs>88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Unit-6</vt:lpstr>
      <vt:lpstr>MLlib</vt:lpstr>
      <vt:lpstr>Loading the dataset in Pyspark</vt:lpstr>
      <vt:lpstr>Install the packages</vt:lpstr>
      <vt:lpstr>Linear Regression</vt:lpstr>
      <vt:lpstr>EXAMPLE  </vt:lpstr>
      <vt:lpstr>Implementation Data Importing </vt:lpstr>
      <vt:lpstr>Vector Assembler</vt:lpstr>
      <vt:lpstr>Training and Testing of Data</vt:lpstr>
      <vt:lpstr>Decision Tree</vt:lpstr>
      <vt:lpstr>PowerPoint Presentation</vt:lpstr>
      <vt:lpstr>Decision Tree</vt:lpstr>
      <vt:lpstr>Transformation of data</vt:lpstr>
      <vt:lpstr>Training and Testing of Data</vt:lpstr>
      <vt:lpstr>Applying DT</vt:lpstr>
      <vt:lpstr>Model 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Gurvinder Singh</dc:creator>
  <cp:lastModifiedBy>zeenat zahra</cp:lastModifiedBy>
  <cp:revision>11</cp:revision>
  <dcterms:created xsi:type="dcterms:W3CDTF">2025-10-27T05:27:29Z</dcterms:created>
  <dcterms:modified xsi:type="dcterms:W3CDTF">2026-09-25T06:07:20Z</dcterms:modified>
</cp:coreProperties>
</file>